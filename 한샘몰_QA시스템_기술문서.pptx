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003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54864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BBFF"/>
                </a:solidFill>
                <a:latin typeface="맑은 고딕"/>
              </a:rPr>
              <a:t>HANSSEM MALL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맑은 고딕"/>
              </a:rPr>
              <a:t>서비스 품질 관리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CCFF"/>
                </a:solidFill>
                <a:latin typeface="맑은 고딕"/>
              </a:rPr>
              <a:t>QA System Technical Document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34640"/>
            <a:ext cx="3657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  <a:latin typeface="맑은 고딕"/>
              </a:rPr>
              <a:t>Playwright + TypeScript + GitHub Actions + GitHub Pages</a:t>
            </a:r>
          </a:p>
          <a:p>
            <a:pPr algn="l"/>
            <a:r>
              <a:rPr sz="1300" b="0">
                <a:solidFill>
                  <a:srgbClr val="CCDDFF"/>
                </a:solidFill>
                <a:latin typeface="맑은 고딕"/>
              </a:rPr>
              <a:t>PC / MW 운영환경 자동 QA — 랜딩 500개 + E2E 시나리오 테스트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작성일: 2026-04-20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대상: 개발팀 / QA 담당자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1371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🔍 랜딩 테스트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377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🖱️ E2E 테스트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3383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📊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6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🔔 잔디 알림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37160"/>
            <a:ext cx="68580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31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맑은 고딕"/>
              </a:rPr>
              <a:t>Table of 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577840" cy="109728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640080" cy="109728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26187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맑은 고딕"/>
              </a:rPr>
              <a:t>시스템 개요 및 기대효과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71907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맑은 고딕"/>
              </a:rPr>
              <a:t>도입 배경 · 효과 · 구성 요약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5577840" cy="109728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188720"/>
            <a:ext cx="640080" cy="109728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463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26187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맑은 고딕"/>
              </a:rPr>
              <a:t>전체 아키텍처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71907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맑은 고딕"/>
              </a:rPr>
              <a:t>실행 흐름 · 디렉토리 구조 · Playwright 설정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514600"/>
            <a:ext cx="5577840" cy="109728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514600"/>
            <a:ext cx="640080" cy="109728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788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58775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맑은 고딕"/>
              </a:rPr>
              <a:t>공통 헬퍼 (utils.ts)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04495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맑은 고딕"/>
              </a:rPr>
              <a:t>updateProgress · publishResults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514600"/>
            <a:ext cx="5577840" cy="109728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514600"/>
            <a:ext cx="640080" cy="109728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788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58775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맑은 고딕"/>
              </a:rPr>
              <a:t>테스트 구성 상세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04495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맑은 고딕"/>
              </a:rPr>
              <a:t>랜딩 500개 · PC E2E 18그룹 · MW E2E 13그룹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840480"/>
            <a:ext cx="5577840" cy="109728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840480"/>
            <a:ext cx="640080" cy="109728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114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91363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맑은 고딕"/>
              </a:rPr>
              <a:t>결과 데이터 &amp; 대시보드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37083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맑은 고딕"/>
              </a:rPr>
              <a:t>results.json 구조 · 실시간 로딩 UI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840480"/>
            <a:ext cx="5577840" cy="109728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3840480"/>
            <a:ext cx="640080" cy="109728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4114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391363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맑은 고딕"/>
              </a:rPr>
              <a:t>GitHub Actions 워크플로우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37083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맑은 고딕"/>
              </a:rPr>
              <a:t>daily-trigger · playwright.yml 실행 단계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166359"/>
            <a:ext cx="5577840" cy="109728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5166359"/>
            <a:ext cx="640080" cy="109728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544067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2395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맑은 고딕"/>
              </a:rPr>
              <a:t>기능 커버리지 분석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56967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맑은 고딕"/>
              </a:rPr>
              <a:t>66개 기본기능 대비 약 21% · 미커버 원인 분석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5166359"/>
            <a:ext cx="5577840" cy="109728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60" y="5166359"/>
            <a:ext cx="640080" cy="109728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544067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52395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맑은 고딕"/>
              </a:rPr>
              <a:t>운영 가이드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56967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맑은 고딕"/>
              </a:rPr>
              <a:t>장애 리포트 추가 · 잔디 알림 · PAT 토큰 관리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37160"/>
            <a:ext cx="68580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01. 시스템 개요 및 기대효과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31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맑은 고딕"/>
              </a:rPr>
              <a:t>System Overview &amp; Expected Effects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40312" cy="132588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73152" cy="1325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BAC"/>
                </a:solidFill>
                <a:latin typeface="맑은 고딕"/>
              </a:rPr>
              <a:t>도입 배경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맑은 고딕"/>
              </a:rPr>
              <a:t>한샘몰은 PC(store.hanssem.com)와 MW(m.store.hanssem.com) 두 채널을 운영하며,</a:t>
            </a:r>
          </a:p>
          <a:p>
            <a:pPr algn="l"/>
            <a:r>
              <a:rPr sz="1100" b="0">
                <a:solidFill>
                  <a:srgbClr val="2C2C2C"/>
                </a:solidFill>
                <a:latin typeface="맑은 고딕"/>
              </a:rPr>
              <a:t>배포 후 수백 개의 URL과 주요 사용자 시나리오를 수동으로 확인하는 데 많은 리소스가 필요했다.</a:t>
            </a:r>
          </a:p>
          <a:p>
            <a:pPr algn="l"/>
            <a:r>
              <a:rPr sz="1100" b="0">
                <a:solidFill>
                  <a:srgbClr val="2C2C2C"/>
                </a:solidFill>
                <a:latin typeface="맑은 고딕"/>
              </a:rPr>
              <a:t>이를 자동화해 배포 익일 아침 이상을 조기 감지하고, QA 리소스를 절감하는 것이 목표이다.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2606040"/>
          <a:ext cx="731519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052"/>
                <a:gridCol w="2695073"/>
                <a:gridCol w="2695073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T="50800" marB="50800" marL="76200" marR="76200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도입 전</a:t>
                      </a:r>
                    </a:p>
                  </a:txBody>
                  <a:tcPr marT="50800" marB="50800" marL="76200" marR="76200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도입 후</a:t>
                      </a:r>
                    </a:p>
                  </a:txBody>
                  <a:tcPr marT="50800" marB="50800" marL="76200" marR="76200">
                    <a:solidFill>
                      <a:srgbClr val="005BAC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랜딩 점검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수동 접속 확인 (PC+MW 각 500개)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매일 KST 08:00 자동 실행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결과 확인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담당자 직접 기록·공유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대시보드에서 즉시 확인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이상 감지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사용자 신고 후 인지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배포 익일 아침 자동 감지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장애 이력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별도 문서 관리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대시보드 통합 관리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알림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수동 공유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잔디 웹훅 자동 전송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863840" y="2606040"/>
            <a:ext cx="4023360" cy="22860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26517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시스템 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01752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🔍 랜딩 테스트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   PC 500개 + MW 500개 URL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   HTTP 200 응답 자동 점검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🖱️  E2E 테스트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   PC 18개 + MW 13개 시나리오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   사용자 동선 자동 재현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📊 GitHub Pages 대시보드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   결과 실시간 시각화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074920"/>
            <a:ext cx="2743200" cy="155448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5257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5BAC"/>
                </a:solidFill>
                <a:latin typeface="맑은 고딕"/>
              </a:rPr>
              <a:t>500개 × 2채널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897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맑은 고딕"/>
              </a:rPr>
              <a:t>랜딩 URL 점검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5074920"/>
            <a:ext cx="2743200" cy="155448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5257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5BAC"/>
                </a:solidFill>
                <a:latin typeface="맑은 고딕"/>
              </a:rPr>
              <a:t>31개 시나리오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897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맑은 고딕"/>
              </a:rPr>
              <a:t>E2E TC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5074920"/>
            <a:ext cx="2743200" cy="155448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5257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5BAC"/>
                </a:solidFill>
                <a:latin typeface="맑은 고딕"/>
              </a:rPr>
              <a:t>매일 08:00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5897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맑은 고딕"/>
              </a:rPr>
              <a:t>자동 실행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5074920"/>
            <a:ext cx="2743200" cy="155448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5257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5BAC"/>
                </a:solidFill>
                <a:latin typeface="맑은 고딕"/>
              </a:rPr>
              <a:t>약 21%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5897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맑은 고딕"/>
              </a:rPr>
              <a:t>기능 커버리지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37160"/>
            <a:ext cx="68580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02. 전체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31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맑은 고딕"/>
              </a:rP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11640312" cy="338328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2011680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daily-trigger.yml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KST 08:00 자동 실행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508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5BAC"/>
                </a:solidFill>
                <a:latin typeface="맑은 고딕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280160"/>
            <a:ext cx="2286000" cy="82296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280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playwright.yml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workflow_dispatch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148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5BAC"/>
                </a:solidFill>
                <a:latin typeface="맑은 고딕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5394960" cy="36576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33472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PC_Chrome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5394960" cy="411480"/>
          </a:xfrm>
          <a:prstGeom prst="rect">
            <a:avLst/>
          </a:prstGeom>
          <a:solidFill>
            <a:srgbClr val="F0F6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0449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맑은 고딕"/>
              </a:rPr>
              <a:t>pc_500_check.spec.ts  →  랜딩 500개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20439"/>
            <a:ext cx="53949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5478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맑은 고딕"/>
              </a:rPr>
              <a:t>pc_e2e_test_v2.spec.ts  →  E2E 18그룹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606040"/>
            <a:ext cx="5394960" cy="365760"/>
          </a:xfrm>
          <a:prstGeom prst="rect">
            <a:avLst/>
          </a:prstGeom>
          <a:solidFill>
            <a:srgbClr val="0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2633472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MW_Chrome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017520"/>
            <a:ext cx="5394960" cy="411480"/>
          </a:xfrm>
          <a:prstGeom prst="rect">
            <a:avLst/>
          </a:prstGeom>
          <a:solidFill>
            <a:srgbClr val="F0F6FF"/>
          </a:solidFill>
          <a:ln w="3810">
            <a:solidFill>
              <a:srgbClr val="008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0449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맑은 고딕"/>
              </a:rPr>
              <a:t>mw_500_check.spec.ts  →  랜딩 500개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520439"/>
            <a:ext cx="53949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008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5478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맑은 고딕"/>
              </a:rPr>
              <a:t>mw_e2e_test.spec.ts     →  E2E 13그룹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114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BAC"/>
                </a:solidFill>
                <a:latin typeface="맑은 고딕"/>
              </a:rPr>
              <a:t>↓ 각 테스트 완료 시 publishResults() → gh-pages 즉시 반영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526280"/>
            <a:ext cx="3657600" cy="11887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4526280"/>
            <a:ext cx="3657600" cy="347472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55371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4단계  결과 커밋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4919472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맑은 고딕"/>
              </a:rPr>
              <a:t>main 브랜치
git pull --rebase &amp;&amp; push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4526280"/>
            <a:ext cx="3657600" cy="11887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240" y="4526280"/>
            <a:ext cx="3657600" cy="347472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79" y="455371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5단계  Pages 배포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4919472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맑은 고딕"/>
              </a:rPr>
              <a:t>public/ → gh-pages
peaciris/actions-gh-pages@v3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4526280"/>
            <a:ext cx="3657600" cy="11887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4526280"/>
            <a:ext cx="3657600" cy="347472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455371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6단계  아티팩트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919472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맑은 고딕"/>
              </a:rPr>
              <a:t>playwright-report
fail_evidence (30일 보관)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603736" y="1097280"/>
            <a:ext cx="73152" cy="33832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37160"/>
            <a:ext cx="68580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03. 공통 헬퍼 — utils.ts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31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맑은 고딕"/>
              </a:rPr>
              <a:t>Shared Helpers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577840" cy="539496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577840" cy="384048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7043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updateProgress(phase, count?, total?)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002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실행 단계를 gh-pages의 progress.json에 실시간 기록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대시보드가 15초마다 폴링 → 로딩 UI 및 진행률 표시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/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파라미터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phase : 'pc-landing' | 'pc-e2e' | 'mw-landing' | 'mw-e2e'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count : 현재 방문 건수 (랜딩 테스트)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total : 전체 건수 (랜딩 테스트)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/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동작 조건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GITHUB_ACTIONS + GITHUB_TOKEN 환경변수 필요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로컬 실행 시 자동 스킵 (안전)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gh-pages 브랜치에 직접 PUT (main 커밋 없음)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실패해도 경고 로그만 출력 → 테스트 계속 진행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/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progress.json 구조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{ "phase": "pc-landing",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  "startedAt": "2026-04-20T00:00:00.000Z",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  "count": 150, "total": 500 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43000"/>
            <a:ext cx="5760720" cy="539496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143000"/>
            <a:ext cx="5760720" cy="384048"/>
          </a:xfrm>
          <a:prstGeom prst="rect">
            <a:avLst/>
          </a:prstGeom>
          <a:solidFill>
            <a:srgbClr val="0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17043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publishResults(report, fullData, fullDataPath)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각 테스트 afterAll에서 호출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결과를 gh-pages에 즉시 반영 → 실시간 대시보드 갱신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/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파라미터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report     : 리포트 요약 객체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             (id, title, total, pass, fail, passRate, cases)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fullData   : 전체 케이스 데이터 (pass + fail)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fullDataPath : 'pc_500.json' | 'pc_e2e.json' | ...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/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동작 순서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1. fullDataPath 파일 gh-pages에 직접 PUT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2. results.json GET → report 병합 → PUT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3. 완료 로그 출력 (📊 결과 즉시 반영 완료)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/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동작 조건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GITHUB_ACTIONS + GITHUB_TOKEN 환경변수 필요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로컬 실행 시 자동 스킵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143000"/>
            <a:ext cx="73152" cy="5394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37160"/>
            <a:ext cx="68580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04-A. 랜딩 테스트 (PC / MW)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31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맑은 고딕"/>
              </a:rPr>
              <a:t>Landing Test — 500 URLs per Channel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143000"/>
          <a:ext cx="731519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052"/>
                <a:gridCol w="2695073"/>
                <a:gridCol w="2695073"/>
              </a:tblGrid>
              <a:tr h="326571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T="50800" marB="50800" marL="76200" marR="76200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PC 랜딩</a:t>
                      </a:r>
                    </a:p>
                  </a:txBody>
                  <a:tcPr marT="50800" marB="50800" marL="76200" marR="76200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MW 랜딩</a:t>
                      </a:r>
                    </a:p>
                  </a:txBody>
                  <a:tcPr marT="50800" marB="50800" marL="76200" marR="76200">
                    <a:solidFill>
                      <a:srgbClr val="005BAC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파일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pc_500_check.spec.ts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mw_500_check.spec.ts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시작 URL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store.hanssem.com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m.store.hanssem.com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링크 필터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store.hanssem.com 포함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m.store.hanssem.com 포함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점검 건수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500개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500개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결과 파일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public/pc_500.json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public/mw_500.json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</a:tr>
              <a:tr h="32657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pc-landing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mw-landing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0" y="1143000"/>
            <a:ext cx="4114800" cy="228600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143000"/>
            <a:ext cx="4114800" cy="347472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17043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실패 판정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155448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HTTP 200  →  ✅ PASS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HTTP 오류 / Timeout  →  ❌ FAIL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/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5xx 응답: 5초 후 1회 재시도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타임아웃 (연속 3회 미만): 20초 대기 후 재시도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타임아웃 (연속 3회 이상): 60초 대기 후 재시도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최종 실패: window.stop() → 스크린샷 저장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566160"/>
            <a:ext cx="5303520" cy="306324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566160"/>
            <a:ext cx="5303520" cy="347472"/>
          </a:xfrm>
          <a:prstGeom prst="rect">
            <a:avLst/>
          </a:prstGeom>
          <a:solidFill>
            <a:srgbClr val="0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5935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링크 수집 방식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977639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1. 시작 URL에서 &lt;a href&gt; 전체 수집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 (스크롤 3회로 lazy-load 유발)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2. URL 유효성 필터 적용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 · 길이 400자 초과 제외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 · 정적 파일 확장자 제외 (.pdf .jpg .css .js 등)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 · API/정적 경로 제외 (/api/ /static/ /assets/)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3. EXCLUDE_KEYWORDS 필터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 logout, login, javascript, order, settle,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 cart, member, company.hanssem.com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4. 500개 채울 때까지 방문 페이지에서 추가 수집 반복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5. 5초마다 updateProgress() 호출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3566160"/>
            <a:ext cx="6035040" cy="306324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52160" y="3566160"/>
            <a:ext cx="6035040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3593592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구조 특이사항 및 진행상태 업데이트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977639"/>
            <a:ext cx="5760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구조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· 테스트 함수 1개 안에서 while 루프 실행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· Playwright 카운트: 항상 '1 passed'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· 실제 pass/fail은 내부 변수로 집계 후 JSON 저장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/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진행상태 업데이트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· 테스트 시작 시 1회: updateProgress('pc-landing', 0, 500)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· 이후 5초마다: updateProgress('pc-landing', count, 500)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· 대시보드가 진행률(%) 실시간 표시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/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결과 저장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· results.json: fail 케이스만 저장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· pc_500.json: pass + fail 전체 저장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· afterAll 종료 시 publishResults() 호출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37160"/>
            <a:ext cx="68580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04-B. PC E2E 테스트 (pc_e2e_test_v2.spec.ts)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31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맑은 고딕"/>
              </a:rPr>
              <a:t>PC E2E — 18 Test Groups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749039" cy="411480"/>
          </a:xfrm>
          <a:prstGeom prst="rect">
            <a:avLst/>
          </a:prstGeom>
          <a:solidFill>
            <a:srgbClr val="E8F4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맑은 고딕"/>
              </a:rPr>
              <a:t>baseURL: https://store.hanssem.com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188720"/>
            <a:ext cx="3749039" cy="411480"/>
          </a:xfrm>
          <a:prstGeom prst="rect">
            <a:avLst/>
          </a:prstGeom>
          <a:solidFill>
            <a:srgbClr val="E8F4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79" y="12344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맑은 고딕"/>
              </a:rPr>
              <a:t>샘플 상품: #837513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188720"/>
            <a:ext cx="3749039" cy="411480"/>
          </a:xfrm>
          <a:prstGeom prst="rect">
            <a:avLst/>
          </a:prstGeom>
          <a:solidFill>
            <a:srgbClr val="E8F4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2344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맑은 고딕"/>
              </a:rPr>
              <a:t>결과 파일: public/pc_e2e.json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91640"/>
            <a:ext cx="3749039" cy="411480"/>
          </a:xfrm>
          <a:prstGeom prst="rect">
            <a:avLst/>
          </a:prstGeom>
          <a:solidFill>
            <a:srgbClr val="E8F4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7373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맑은 고딕"/>
              </a:rPr>
              <a:t>ID: pc-e2e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691640"/>
            <a:ext cx="3749039" cy="411480"/>
          </a:xfrm>
          <a:prstGeom prst="rect">
            <a:avLst/>
          </a:prstGeom>
          <a:solidFill>
            <a:srgbClr val="E8F4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79" y="17373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맑은 고딕"/>
              </a:rPr>
              <a:t>cases: pass + fail 전체 포함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74320" y="2286000"/>
          <a:ext cx="1164031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648"/>
                <a:gridCol w="3675887"/>
                <a:gridCol w="7351775"/>
              </a:tblGrid>
              <a:tr h="2286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marT="50800" marB="50800" marL="76200" marR="76200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그룹명</a:t>
                      </a:r>
                    </a:p>
                  </a:txBody>
                  <a:tcPr marT="50800" marB="50800" marL="76200" marR="76200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주요 검증 항목</a:t>
                      </a:r>
                    </a:p>
                  </a:txBody>
                  <a:tcPr marT="50800" marB="50800" marL="76200" marR="76200">
                    <a:solidFill>
                      <a:srgbClr val="005BAC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메인 페이지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로딩/타이틀, 헤더(GNB), 푸터(PC)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카테고리 네비게이션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가구/홈리빙·인테리어 진입, GNB 링크 클릭(PC)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상품 목록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상품 링크 노출, 상품 클릭→상세 이동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상품 상세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상품명(H1), 가격, 구매/장바구니 버튼(PC), 이미지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검색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검색아이콘→입력→결과 이동(PC), 영문 키워드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로그인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GNB 로그인 클릭→mall.hanssem.com(PC), 로그인 폼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장바구니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GNB 장바구니 클릭(PC), 직접 URL redirect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HTTP 응답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메인/가구/인테리어/검색/상품상세/매장 6개 200 응답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매장 찾기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직접 진입, GNB 매장찾기 클릭(PC)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상품 탭 전환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후기·문의·배송 탭 전환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11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정렬/필터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모든필터(PC), 낮은가격순 정렬(PC), 0건 검색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12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인테리어 서브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카테고리, 시공사례, 무료견적상담, 기획전 200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13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예외 페이지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없는 상품 redirect (5xx 미발생 확인)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14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옵션 선택 레이어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옵션 버튼 노출(PC), 드롭다운 노출(PC)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시공사례 상세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목록 노출, 첫 번째 항목 클릭→상세 진입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전문가 찾기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페이지 진입, 전문가 카드 목록 노출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17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매장 검색/상세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검색 입력 필드(PC), 지역 필터/매장 목록 노출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18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붙박이장 셀프플래너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플래너 링크, 붙박이장 카테고리 상품 노출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37160"/>
            <a:ext cx="68580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04-C. MW E2E 테스트 (mw_e2e_test.spec.ts)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31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맑은 고딕"/>
              </a:rPr>
              <a:t>MW E2E — 13 Test Groups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77240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baseURL: https://m.store.hanssem.com  |  샘플 상품: #837513  |  결과 파일: public/mw_e2e.json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cases: results.json에 fail만, mw_e2e.json에 pass+fail 전체  |  hasPublished 플래그로 afterAll 중복 방지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143000"/>
            <a:ext cx="3657600" cy="777240"/>
          </a:xfrm>
          <a:prstGeom prst="rect">
            <a:avLst/>
          </a:prstGeom>
          <a:solidFill>
            <a:srgbClr val="FFF3CD"/>
          </a:solidFill>
          <a:ln w="63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1704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  <a:latin typeface="맑은 고딕"/>
              </a:rPr>
              <a:t>⚠️ afterAll 래퍼 필수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4630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맑은 고딕"/>
              </a:rPr>
              <a:t>전체를 test.describe("MW E2E 테스트") 하나로 감싸야 함
afterAll 중복 실행 방지 (결과 덮어씌움 버그)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2057400"/>
          <a:ext cx="1164031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300"/>
                <a:gridCol w="2771502"/>
                <a:gridCol w="4988705"/>
                <a:gridCol w="3325803"/>
              </a:tblGrid>
              <a:tr h="323305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marT="50800" marB="50800" marL="76200" marR="76200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그룹명</a:t>
                      </a:r>
                    </a:p>
                  </a:txBody>
                  <a:tcPr marT="50800" marB="50800" marL="76200" marR="76200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주요 검증 항목</a:t>
                      </a:r>
                    </a:p>
                  </a:txBody>
                  <a:tcPr marT="50800" marB="50800" marL="76200" marR="76200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PC와 차이점</a:t>
                      </a:r>
                    </a:p>
                  </a:txBody>
                  <a:tcPr marT="50800" marB="50800" marL="76200" marR="76200">
                    <a:solidFill>
                      <a:srgbClr val="005BAC"/>
                    </a:solidFill>
                  </a:tcPr>
                </a:tc>
              </a:tr>
              <a:tr h="32330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메인 페이지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로딩/타이틀, 헤더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푸터 없음 (BNB 사용)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</a:tr>
              <a:tr h="32330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카테고리 네비게이션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가구/홈리빙·인테리어 진입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GNB 링크 클릭 없음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  <a:tr h="32330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상품 목록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상품 링크 노출, 상품 클릭→상세 이동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동일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</a:tr>
              <a:tr h="32330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상품 상세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상품명(H1), 가격, 이미지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구매버튼 검증 없음 (MW UI 다름)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  <a:tr h="32330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검색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검색 결과 로딩, 영문 키워드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검색아이콘 GNB 클릭 없음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</a:tr>
              <a:tr h="32330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로그인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로그인 폼 노출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returnUrl = m.store.hanssem.com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  <a:tr h="32330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장바구니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직접 URL redirect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mall.hanssem.com/m/morder 경로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</a:tr>
              <a:tr h="32330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HTTP 응답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6개 주요 페이지 200 응답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동일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  <a:tr h="32330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매장 찾기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직접 진입 및 타이틀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GNB 클릭 없음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</a:tr>
              <a:tr h="32330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상품 탭 전환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후기 탭 전환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문의/배송 탭 없음 (MW UI 다름)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  <a:tr h="32330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11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검색 결과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0건 검색결과 확인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동일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</a:tr>
              <a:tr h="32330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12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인테리어 서브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카테고리(MW URL), 무료견적상담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m.store.hanssem.com URL 사용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  <a:tr h="32331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13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예외 페이지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없는 상품 redirect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동일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37160"/>
            <a:ext cx="68580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05. 결과 데이터 &amp; 대시보드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31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맑은 고딕"/>
              </a:rPr>
              <a:t>Results Data &amp;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486400" cy="539496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486400" cy="347472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7043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results.json 구조 (대시보드 단일 소스)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554480"/>
            <a:ext cx="5212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561A"/>
                </a:solidFill>
                <a:latin typeface="맑은 고딕"/>
              </a:rPr>
              <a:t>{</a:t>
            </a:r>
          </a:p>
          <a:p>
            <a:pPr algn="l"/>
            <a:r>
              <a:rPr sz="900" b="0">
                <a:solidFill>
                  <a:srgbClr val="1A561A"/>
                </a:solidFill>
                <a:latin typeface="맑은 고딕"/>
              </a:rPr>
              <a:t>  "lastUpdated": "2026. 4. 20. ...",</a:t>
            </a:r>
          </a:p>
          <a:p>
            <a:pPr algn="l"/>
            <a:r>
              <a:rPr sz="900" b="0">
                <a:solidFill>
                  <a:srgbClr val="1A561A"/>
                </a:solidFill>
                <a:latin typeface="맑은 고딕"/>
              </a:rPr>
              <a:t>  "codeLastModified": "2026. 04. 20. 09:30",</a:t>
            </a:r>
          </a:p>
          <a:p>
            <a:pPr algn="l"/>
            <a:r>
              <a:rPr sz="900" b="0">
                <a:solidFill>
                  <a:srgbClr val="1A561A"/>
                </a:solidFill>
                <a:latin typeface="맑은 고딕"/>
              </a:rPr>
              <a:t>  "incidents": {</a:t>
            </a:r>
          </a:p>
          <a:p>
            <a:pPr algn="l"/>
            <a:r>
              <a:rPr sz="900" b="0">
                <a:solidFill>
                  <a:srgbClr val="1A561A"/>
                </a:solidFill>
                <a:latin typeface="맑은 고딕"/>
              </a:rPr>
              <a:t>    "total": 30, "hotfix": 30,</a:t>
            </a:r>
          </a:p>
          <a:p>
            <a:pPr algn="l"/>
            <a:r>
              <a:rPr sz="900" b="0">
                <a:solidFill>
                  <a:srgbClr val="1A561A"/>
                </a:solidFill>
                <a:latin typeface="맑은 고딕"/>
              </a:rPr>
              <a:t>    "feCount": 14, "beCount": 15, "appCount": 1,</a:t>
            </a:r>
          </a:p>
          <a:p>
            <a:pPr algn="l"/>
            <a:r>
              <a:rPr sz="900" b="0">
                <a:solidFill>
                  <a:srgbClr val="1A561A"/>
                </a:solidFill>
                <a:latin typeface="맑은 고딕"/>
              </a:rPr>
              <a:t>    "byMonth": [ { "month": "2026-04",</a:t>
            </a:r>
          </a:p>
          <a:p>
            <a:pPr algn="l"/>
            <a:r>
              <a:rPr sz="900" b="0">
                <a:solidFill>
                  <a:srgbClr val="1A561A"/>
                </a:solidFill>
                <a:latin typeface="맑은 고딕"/>
              </a:rPr>
              <a:t>      "count": 11, "fe": 6, "be": 5,</a:t>
            </a:r>
          </a:p>
          <a:p>
            <a:pPr algn="l"/>
            <a:r>
              <a:rPr sz="900" b="0">
                <a:solidFill>
                  <a:srgbClr val="1A561A"/>
                </a:solidFill>
                <a:latin typeface="맑은 고딕"/>
              </a:rPr>
              <a:t>      "list": [ { "no": 11, "date": "...",</a:t>
            </a:r>
          </a:p>
          <a:p>
            <a:pPr algn="l"/>
            <a:r>
              <a:rPr sz="900" b="0">
                <a:solidFill>
                  <a:srgbClr val="1A561A"/>
                </a:solidFill>
                <a:latin typeface="맑은 고딕"/>
              </a:rPr>
              <a:t>        "category": "FE", "assignee": "...",</a:t>
            </a:r>
          </a:p>
          <a:p>
            <a:pPr algn="l"/>
            <a:r>
              <a:rPr sz="900" b="0">
                <a:solidFill>
                  <a:srgbClr val="1A561A"/>
                </a:solidFill>
                <a:latin typeface="맑은 고딕"/>
              </a:rPr>
              <a:t>        "summary": "...", "jiraLink": "..." } ] } ]</a:t>
            </a:r>
          </a:p>
          <a:p>
            <a:pPr algn="l"/>
            <a:r>
              <a:rPr sz="900" b="0">
                <a:solidFill>
                  <a:srgbClr val="1A561A"/>
                </a:solidFill>
                <a:latin typeface="맑은 고딕"/>
              </a:rPr>
              <a:t>  },</a:t>
            </a:r>
          </a:p>
          <a:p>
            <a:pPr algn="l"/>
            <a:r>
              <a:rPr sz="900" b="0">
                <a:solidFill>
                  <a:srgbClr val="1A561A"/>
                </a:solidFill>
                <a:latin typeface="맑은 고딕"/>
              </a:rPr>
              <a:t>  "reports": [ {</a:t>
            </a:r>
          </a:p>
          <a:p>
            <a:pPr algn="l"/>
            <a:r>
              <a:rPr sz="900" b="0">
                <a:solidFill>
                  <a:srgbClr val="1A561A"/>
                </a:solidFill>
                <a:latin typeface="맑은 고딕"/>
              </a:rPr>
              <a:t>    "id": "pc-landing",</a:t>
            </a:r>
          </a:p>
          <a:p>
            <a:pPr algn="l"/>
            <a:r>
              <a:rPr sz="900" b="0">
                <a:solidFill>
                  <a:srgbClr val="1A561A"/>
                </a:solidFill>
                <a:latin typeface="맑은 고딕"/>
              </a:rPr>
              <a:t>    "title": "운영환경 PC 500개 랜딩 테스트",</a:t>
            </a:r>
          </a:p>
          <a:p>
            <a:pPr algn="l"/>
            <a:r>
              <a:rPr sz="900" b="0">
                <a:solidFill>
                  <a:srgbClr val="1A561A"/>
                </a:solidFill>
                <a:latin typeface="맑은 고딕"/>
              </a:rPr>
              <a:t>    "total": 500, "pass": 498, "fail": 2,</a:t>
            </a:r>
          </a:p>
          <a:p>
            <a:pPr algn="l"/>
            <a:r>
              <a:rPr sz="900" b="0">
                <a:solidFill>
                  <a:srgbClr val="1A561A"/>
                </a:solidFill>
                <a:latin typeface="맑은 고딕"/>
              </a:rPr>
              <a:t>    "passRate": "99.6",</a:t>
            </a:r>
          </a:p>
          <a:p>
            <a:pPr algn="l"/>
            <a:r>
              <a:rPr sz="900" b="0">
                <a:solidFill>
                  <a:srgbClr val="1A561A"/>
                </a:solidFill>
                <a:latin typeface="맑은 고딕"/>
              </a:rPr>
              <a:t>    "cases": [ /* fail만 */ ]</a:t>
            </a:r>
          </a:p>
          <a:p>
            <a:pPr algn="l"/>
            <a:r>
              <a:rPr sz="900" b="0">
                <a:solidFill>
                  <a:srgbClr val="1A561A"/>
                </a:solidFill>
                <a:latin typeface="맑은 고딕"/>
              </a:rPr>
              <a:t>  } ]</a:t>
            </a:r>
          </a:p>
          <a:p>
            <a:pPr algn="l"/>
            <a:r>
              <a:rPr sz="900" b="0">
                <a:solidFill>
                  <a:srgbClr val="1A561A"/>
                </a:solidFill>
                <a:latin typeface="맑은 고딕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143000"/>
            <a:ext cx="5897880" cy="192024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1143000"/>
            <a:ext cx="5897880" cy="347472"/>
          </a:xfrm>
          <a:prstGeom prst="rect">
            <a:avLst/>
          </a:prstGeom>
          <a:solidFill>
            <a:srgbClr val="0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170432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파일 매핑 및 cases 포함 범위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89320" y="1536192"/>
          <a:ext cx="5897880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1965960"/>
                <a:gridCol w="1179576"/>
                <a:gridCol w="1179576"/>
              </a:tblGrid>
              <a:tr h="296265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 marT="50800" marB="50800" marL="76200" marR="76200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상세 파일</a:t>
                      </a:r>
                    </a:p>
                  </a:txBody>
                  <a:tcPr marT="50800" marB="50800" marL="76200" marR="76200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results.json</a:t>
                      </a:r>
                    </a:p>
                  </a:txBody>
                  <a:tcPr marT="50800" marB="50800" marL="76200" marR="76200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상세 화면</a:t>
                      </a:r>
                    </a:p>
                  </a:txBody>
                  <a:tcPr marT="50800" marB="50800" marL="76200" marR="76200">
                    <a:solidFill>
                      <a:srgbClr val="005BAC"/>
                    </a:solidFill>
                  </a:tcPr>
                </a:tc>
              </a:tr>
              <a:tr h="2962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pc-landing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pc_500.json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fail만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전체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</a:tr>
              <a:tr h="2962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pc-e2e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pc_e2e.json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전체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전체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  <a:tr h="2962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mw-landing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mw_500.json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fail만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전체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</a:tr>
              <a:tr h="296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mw-e2e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mw_e2e.json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fail만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전체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5989320" y="3200400"/>
            <a:ext cx="5897880" cy="333756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3200400"/>
            <a:ext cx="5897880" cy="347472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3227832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대시보드 (index.html) 주요 기능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611880"/>
            <a:ext cx="56692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📊 테스트 결과 카드 (PC 랜딩 / PC E2E / MW 랜딩 / MW E2E)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📈 월별 긴급배포 막대 그래프 (FE=파랑, BE=주황, APP=초록)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🔴 fail &gt; 0이면 '실패 감지' 배지 표시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⏱️  실행 중 로딩 UI: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 · 랜딩: count/total × 100 실제 % 표시 (15초 갱신)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 · E2E: 스피너만 표시 (% 없음)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 · 완료 카드: '완료: HH:MM' 표시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 · 종료 감지 → 5초 후 결과 자동 로드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/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폴링 타이머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progressTimer: 30초  GitHub 워크플로우 상태 확인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phaseTimer:    15초  progress.json 폴링 (단계 감지)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animTimer:     10초  % 수치 갱신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37160"/>
            <a:ext cx="68580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06. GitHub Actions 워크플로우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31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맑은 고딕"/>
              </a:rPr>
              <a:t>CI/CD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94960" cy="228600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394960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7043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daily-trigger.yml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55448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스케줄:  0 23 * * * (UTC) = KST 08:00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방식:    PAT_TOKEN으로 GitHub API 호출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       → playwright.yml workflow_dispatch 트리거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Secret:  PAT_TOKEN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/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분리 이유: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GitHub 내장 schedule cron의 신뢰도 문제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(지연/미실행 사례 발생) → 별도 트리거로 분리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1143000"/>
            <a:ext cx="5989320" cy="228600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97880" y="1143000"/>
            <a:ext cx="5989320" cy="347472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17043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playwright.yml — 환경 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55448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트리거:   workflow_dispatch (수동 또는 daily-trigger)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타임아웃: 300분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Secrets:  GITHUB_TOKEN, PAT_TOKEN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/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환경변수: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CI: ''   → 잔디 알림 임시 비활성화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           (삭제하면 알림 재활성화)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GITHUB_TOKEN → publishResults, updateProgress에 사용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611880"/>
            <a:ext cx="3749039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611880"/>
            <a:ext cx="3749039" cy="347472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64845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1단계  codeLastModified 기록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005072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  <a:latin typeface="맑은 고딕"/>
              </a:rPr>
              <a:t>최근 non-auto 커밋 날짜를 results.json에 기록
(auto update 커밋 제외하여 실제 코드 변경일 표시)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611880"/>
            <a:ext cx="3749039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0" y="3611880"/>
            <a:ext cx="3749039" cy="347472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79" y="364845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2단계  의존성 설치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79" y="4005072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  <a:latin typeface="맑은 고딕"/>
              </a:rPr>
              <a:t>npm ci
npx playwright install --with-deps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3611880"/>
            <a:ext cx="3749039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00B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3611880"/>
            <a:ext cx="3749039" cy="347472"/>
          </a:xfrm>
          <a:prstGeom prst="rect">
            <a:avLst/>
          </a:prstGeom>
          <a:solidFill>
            <a:srgbClr val="00B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64845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3단계  테스트 실행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005072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  <a:latin typeface="맑은 고딕"/>
              </a:rPr>
              <a:t>npx playwright test
(continue-on-error: true — 실패해도 이후 단계 계속)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212080"/>
            <a:ext cx="3749039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5212080"/>
            <a:ext cx="3749039" cy="347472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24865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4단계  결과 커밋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605272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  <a:latin typeface="맑은 고딕"/>
              </a:rPr>
              <a:t>git pull --rebase origin main &amp;&amp; git push
(force push 금지 — Actions 권한 오류 발생)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5212080"/>
            <a:ext cx="3749039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240" y="5212080"/>
            <a:ext cx="3749039" cy="347472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79" y="524865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5단계  Pages 배포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79" y="5605272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  <a:latin typeface="맑은 고딕"/>
              </a:rPr>
              <a:t>peaceiris/actions-gh-pages@v3
public/ → gh-pages 브랜치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5212080"/>
            <a:ext cx="3749039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5212080"/>
            <a:ext cx="3749039" cy="347472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524865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6단계  아티팩트 업로드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5605272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  <a:latin typeface="맑은 고딕"/>
              </a:rPr>
              <a:t>playwright-report, fail_evidence
(30일 보관)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37160"/>
            <a:ext cx="68580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07. 기능 커버리지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31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맑은 고딕"/>
              </a:rPr>
              <a:t>Feature Coverage Analysis — 66 items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21488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2148840" cy="73152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298448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5BAC"/>
                </a:solidFill>
                <a:latin typeface="맑은 고딕"/>
              </a:rPr>
              <a:t>66개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84708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맑은 고딕"/>
              </a:rPr>
              <a:t>전체 기본기능 항목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39" y="1143000"/>
            <a:ext cx="21488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00B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39" y="1143000"/>
            <a:ext cx="2148840" cy="73152"/>
          </a:xfrm>
          <a:prstGeom prst="rect">
            <a:avLst/>
          </a:prstGeom>
          <a:solidFill>
            <a:srgbClr val="00B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39" y="1298448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35A"/>
                </a:solidFill>
                <a:latin typeface="맑은 고딕"/>
              </a:rPr>
              <a:t>8개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39" y="184708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맑은 고딕"/>
              </a:rPr>
              <a:t>완전 커버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59" y="1143000"/>
            <a:ext cx="21488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7759" y="1143000"/>
            <a:ext cx="2148840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59" y="1298448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C107"/>
                </a:solidFill>
                <a:latin typeface="맑은 고딕"/>
              </a:rPr>
              <a:t>11개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59" y="184708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맑은 고딕"/>
              </a:rPr>
              <a:t>부분 커버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79" y="1143000"/>
            <a:ext cx="21488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9479" y="1143000"/>
            <a:ext cx="2148840" cy="7315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79" y="1298448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53935"/>
                </a:solidFill>
                <a:latin typeface="맑은 고딕"/>
              </a:rPr>
              <a:t>47개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79" y="184708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맑은 고딕"/>
              </a:rPr>
              <a:t>미커버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1143000"/>
            <a:ext cx="21488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0" y="1143000"/>
            <a:ext cx="2148840" cy="73152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1298448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5BAC"/>
                </a:solidFill>
                <a:latin typeface="맑은 고딕"/>
              </a:rPr>
              <a:t>약 21%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184708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맑은 고딕"/>
              </a:rPr>
              <a:t>총 커버리지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274320" y="2423160"/>
          <a:ext cx="5760718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9522"/>
                <a:gridCol w="687847"/>
                <a:gridCol w="687847"/>
                <a:gridCol w="687847"/>
                <a:gridCol w="687847"/>
                <a:gridCol w="859808"/>
              </a:tblGrid>
              <a:tr h="33147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기능 영역</a:t>
                      </a:r>
                    </a:p>
                  </a:txBody>
                  <a:tcPr marT="50800" marB="50800" marL="76200" marR="76200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전체</a:t>
                      </a:r>
                    </a:p>
                  </a:txBody>
                  <a:tcPr marT="50800" marB="50800" marL="76200" marR="76200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완전</a:t>
                      </a:r>
                    </a:p>
                  </a:txBody>
                  <a:tcPr marT="50800" marB="50800" marL="76200" marR="76200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부분</a:t>
                      </a:r>
                    </a:p>
                  </a:txBody>
                  <a:tcPr marT="50800" marB="50800" marL="76200" marR="76200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미커버</a:t>
                      </a:r>
                    </a:p>
                  </a:txBody>
                  <a:tcPr marT="50800" marB="50800" marL="76200" marR="76200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커버율</a:t>
                      </a:r>
                    </a:p>
                  </a:txBody>
                  <a:tcPr marT="50800" marB="50800" marL="76200" marR="76200">
                    <a:solidFill>
                      <a:srgbClr val="005BAC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회원/인증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약 6%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주문/결제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13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13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0%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메인/네비게이션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11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약 36%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상품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11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약 25%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인테리어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약 39%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마이페이지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0%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66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49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C2C2C"/>
                          </a:solidFill>
                          <a:latin typeface="맑은 고딕"/>
                        </a:rPr>
                        <a:t>약 21%</a:t>
                      </a:r>
                    </a:p>
                  </a:txBody>
                  <a:tcPr marT="50800" marB="50800" marL="76200" marR="76200"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6263640" y="2423160"/>
            <a:ext cx="5623560" cy="2651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2423160"/>
            <a:ext cx="5623560" cy="34747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45059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미커버 주요 원인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834640"/>
            <a:ext cx="822960" cy="3200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2871216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약 25개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0608" y="2871216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  <a:latin typeface="맑은 고딕"/>
              </a:rPr>
              <a:t>로그인 세션 필요 — 장바구니·주문·결제·마이페이지 전체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227832"/>
            <a:ext cx="822960" cy="3200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3264408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13개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0608" y="3264408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  <a:latin typeface="맑은 고딕"/>
              </a:rPr>
              <a:t>실결제 필요 — 신용카드·페이코·카카오페이 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3621024"/>
            <a:ext cx="822960" cy="3200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365760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5개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0608" y="3657600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  <a:latin typeface="맑은 고딕"/>
              </a:rPr>
              <a:t>외부 OAuth 필요 — 카카오/네이버/페이코/애플 간편가입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4014216"/>
            <a:ext cx="822960" cy="3200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4050792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4개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50608" y="4050792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  <a:latin typeface="맑은 고딕"/>
              </a:rPr>
              <a:t>특수 상품 유형 — 커스텀·커튼/블라인드·패키지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4407408"/>
            <a:ext cx="822960" cy="3200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4443984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약 5개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50608" y="4443984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  <a:latin typeface="맑은 고딕"/>
              </a:rPr>
              <a:t>미구현 시나리오 — 매거진·사이드메뉴·RD상세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212080"/>
            <a:ext cx="11640312" cy="1417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" y="5212080"/>
            <a:ext cx="11640312" cy="347472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5239512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커버리지 확대 방향 (우선순위 순)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60527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53935"/>
                </a:solidFill>
                <a:latin typeface="맑은 고딕"/>
              </a:rPr>
              <a:t>높음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" y="55961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2C2C"/>
                </a:solidFill>
                <a:latin typeface="맑은 고딕"/>
              </a:rPr>
              <a:t>장바구니/구매 플로우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586130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맑은 고딕"/>
              </a:rPr>
              <a:t>테스트 전용 계정 세션 저장 후 재사용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0" y="560527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53935"/>
                </a:solidFill>
                <a:latin typeface="맑은 고딕"/>
              </a:rPr>
              <a:t>높음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37560" y="55961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2C2C"/>
                </a:solidFill>
                <a:latin typeface="맑은 고딕"/>
              </a:rPr>
              <a:t>사이드(햄버거) 메뉴 이동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37560" y="586130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맑은 고딕"/>
              </a:rPr>
              <a:t>MW E2E 시나리오 추가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0" y="560527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C107"/>
                </a:solidFill>
                <a:latin typeface="맑은 고딕"/>
              </a:rPr>
              <a:t>중간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60" y="55961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2C2C"/>
                </a:solidFill>
                <a:latin typeface="맑은 고딕"/>
              </a:rPr>
              <a:t>검색 내 상세 이동 (4종)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23560" y="586130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맑은 고딕"/>
              </a:rPr>
              <a:t>검색 결과 클릭 시나리오 추가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0" y="560527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C107"/>
                </a:solidFill>
                <a:latin typeface="맑은 고딕"/>
              </a:rPr>
              <a:t>중간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09560" y="55961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2C2C"/>
                </a:solidFill>
                <a:latin typeface="맑은 고딕"/>
              </a:rPr>
              <a:t>매거진, RD 상세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09560" y="586130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맑은 고딕"/>
              </a:rPr>
              <a:t>E2E 시나리오 추가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01200" y="560527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35A"/>
                </a:solidFill>
                <a:latin typeface="맑은 고딕"/>
              </a:rPr>
              <a:t>낮음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95560" y="55961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2C2C"/>
                </a:solidFill>
                <a:latin typeface="맑은 고딕"/>
              </a:rPr>
              <a:t>결제/주문 완료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95560" y="586130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맑은 고딕"/>
              </a:rPr>
              <a:t>테스트 환경 결제 수단 설정 필요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37160"/>
            <a:ext cx="68580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08. 운영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31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맑은 고딕"/>
              </a:rPr>
              <a:t>Operations Guide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486400" cy="2560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486400" cy="347472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7043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장애 리포트 추가 방법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554480"/>
            <a:ext cx="52120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핫픽스/장애 발생 시 public/results.json 직접 수정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/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1. incidents.byMonth[해당월].list에 항목 추가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 (no: 월별 순번, 최신이 가장 위)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2. 해당 월 count / fe / be / app 업데이트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3. 최상위 total / feCount / beCount / appCount 업데이트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4. lastUpdated / period 날짜 갱신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5. git commit + push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143000"/>
            <a:ext cx="5897880" cy="256032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1143000"/>
            <a:ext cx="5897880" cy="347472"/>
          </a:xfrm>
          <a:prstGeom prst="rect">
            <a:avLst/>
          </a:prstGeom>
          <a:solidFill>
            <a:srgbClr val="0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170432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잔디(Jandi) 알림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554480"/>
            <a:ext cx="5577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전송 조건: process.env.CI가 truthy일 때만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전송 시점: 각 테스트 afterAll 완료 후 (4회)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현재 상태: CI='' 설정으로 임시 비활성화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/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재활성화 방법: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playwright.yml의 아래 블록을 삭제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env: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  CI: ''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/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알림 내용: 통과율, 총 건수,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         실패 목록(최대 10개), 대시보드 링크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840480"/>
            <a:ext cx="5486400" cy="182880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840480"/>
            <a:ext cx="5486400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86791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GitHub PAT 토큰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251960"/>
            <a:ext cx="52120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대시보드 index.html에 하드코딩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(split array로 GitHub push protection 우회)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/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const GH_TOKEN = ["ghp","_0yXkI87t","kJ1wcUmh",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                "lLIfYFs2","m4OH8243","MWD7"].join("");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/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토큰 만료 시: 새 토큰 발급 → 위 배열 업데이트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3840480"/>
            <a:ext cx="5897880" cy="182880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9320" y="3840480"/>
            <a:ext cx="5897880" cy="347472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3867912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Git 배포 규칙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251960"/>
            <a:ext cx="557784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❌ git push --force 금지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 (GitHub Actions 권한 오류 발생)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✅ git pull --rebase origin main &amp;&amp; git push 사용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❌ 테스트 실행 중 중간 푸시 금지 (Actions 충돌)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✅ progress.json은 Contents API로 gh-pages에 직접 기록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 (git push 아님)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779008"/>
            <a:ext cx="11640312" cy="86868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58338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BAC"/>
                </a:solidFill>
                <a:latin typeface="맑은 고딕"/>
              </a:rPr>
              <a:t>패키지: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58338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맑은 고딕"/>
              </a:rPr>
              <a:t>@playwright/test ^1.59.1  |  @types/node ^20.19.39  |  axios ^1.6.0  |  tsconfig.json 불필요 (Playwright가 TypeScript 직접 처리)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1447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BAC"/>
                </a:solidFill>
                <a:latin typeface="맑은 고딕"/>
              </a:rPr>
              <a:t>대시보드: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61447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5BAC"/>
                </a:solidFill>
                <a:latin typeface="맑은 고딕"/>
              </a:rPr>
              <a:t>https://daewon82.github.io/hanssem-qa-system/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