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133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4F9C"/>
                </a:solidFill>
                <a:latin typeface="맑은 고딕"/>
              </a:rP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한샘몰 서비스 품질 관리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  <a:latin typeface="맑은 고딕"/>
              </a:rPr>
              <a:t>QA Automation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5029200" cy="36576"/>
          </a:xfrm>
          <a:prstGeom prst="rect">
            <a:avLst/>
          </a:prstGeom>
          <a:solidFill>
            <a:srgbClr val="4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맑은 고딕"/>
              </a:rPr>
              <a:t>운영환경 자동화 테스트 · 장애 현황 대시보드 · 실시간 품질 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A4D4"/>
                </a:solidFill>
                <a:latin typeface="맑은 고딕"/>
              </a:rPr>
              <a:t>2026. 04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A4D4"/>
                </a:solidFill>
                <a:latin typeface="맑은 고딕"/>
              </a:rPr>
              <a:t>서비스 개발 본부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1097280"/>
            <a:ext cx="2194560" cy="1005840"/>
          </a:xfrm>
          <a:prstGeom prst="rect">
            <a:avLst/>
          </a:prstGeom>
          <a:solidFill>
            <a:srgbClr val="1A6F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20" y="11704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500개 URL
자동 크롤링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331720"/>
            <a:ext cx="2194560" cy="10058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4048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PC + MW
분리 테스트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3566160"/>
            <a:ext cx="2194560" cy="1005840"/>
          </a:xfrm>
          <a:prstGeom prst="rect">
            <a:avLst/>
          </a:prstGeom>
          <a:solidFill>
            <a:srgbClr val="6A1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6393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매일 08:00
자동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4800600"/>
            <a:ext cx="2194560" cy="10058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87375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Vercel
대시보드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왜 만들었고, 무엇을 해결하는가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228600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맑은 고딕"/>
              </a:rPr>
              <a:t>🔴  기존 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운영환경 오류를 배포 후 수동으로만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500개 URL 수동 점검 — 시간 과다 소요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3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장애 발생 시 인지 지연 및 기록 누락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7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PC / MW 화면 별도 검증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4F9C"/>
                </a:solidFill>
                <a:latin typeface="맑은 고딕"/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051560"/>
            <a:ext cx="5394960" cy="228600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맑은 고딕"/>
              </a:rPr>
              <a:t>🟢  시스템 해결책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5087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매일 KST 08:00 자동 실행 (GitHub Actions)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2880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PC + MW 각 500개 URL 자동 크롤링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3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장애 즉시 잔디(Jandi) 그룹 알림 전송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7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  <a:latin typeface="맑은 고딕"/>
              </a:rPr>
              <a:t>• Vercel 대시보드에서 실시간 결과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4F9C"/>
                </a:solidFill>
                <a:latin typeface="맑은 고딕"/>
              </a:rPr>
              <a:t>1,000+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245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매일 자동 검사
URL 수 (PC+MW)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356616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4F9C"/>
                </a:solidFill>
                <a:latin typeface="맑은 고딕"/>
              </a:rPr>
              <a:t>4종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42245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테스트 리포트
(랜딩+E2E×2)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356616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4F9C"/>
                </a:solidFill>
                <a:latin typeface="맑은 고딕"/>
              </a:rPr>
              <a:t>08:00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42245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매일 자동 실행
KST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356616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4" y="3657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4F9C"/>
                </a:solidFill>
                <a:latin typeface="맑은 고딕"/>
              </a:rPr>
              <a:t>실시간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422452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Vercel 대시보드
결과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4F9C"/>
                </a:solidFill>
                <a:latin typeface="맑은 고딕"/>
              </a:rPr>
              <a:t>✔ GitHub Actions + Playwright + Vercel 조합으로 제로 운영 비용의 자동화 QA 파이프라인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전체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자동화 파이프라인 전체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737360" cy="16459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①
KST 08:00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Daily Trigger
(GitHub Actions
Cron)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4F9C"/>
                </a:solidFill>
                <a:latin typeface="맑은 고딕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097280"/>
            <a:ext cx="1737360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②
워크플로우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playwright.yml
실행 트리거
(PAT API 호출)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4F9C"/>
                </a:solidFill>
                <a:latin typeface="맑은 고딕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97280"/>
            <a:ext cx="1737360" cy="1645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③
테스트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Playwright
PC + MW
총 4종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4F9C"/>
                </a:solidFill>
                <a:latin typeface="맑은 고딕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97280"/>
            <a:ext cx="1737360" cy="1645920"/>
          </a:xfrm>
          <a:prstGeom prst="rect">
            <a:avLst/>
          </a:prstGeom>
          <a:solidFill>
            <a:srgbClr val="6A1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④
결과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JSON 파일
Git 자동 커밋
+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4F9C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097280"/>
            <a:ext cx="1737360" cy="16459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⑤
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Vercel
자동 재배포
(최대 3회 재시도)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916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4F9C"/>
                </a:solidFill>
                <a:latin typeface="맑은 고딕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097280"/>
            <a:ext cx="1737360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1430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⑥
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1508760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잔디(Jandi)
그룹 알림
(CI 환경만)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11430000" cy="3200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9992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테스트 구성 상세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3756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337560"/>
            <a:ext cx="2743200" cy="5029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55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PC 랜딩 테스트
(pc_500_check.spec.ts)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대상: store.hanssem.com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MAX_LINKS: 500개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498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크롤링 후 HTTP 200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4791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결과: pc_500.json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27832" y="333756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27832" y="3337560"/>
            <a:ext cx="2743200" cy="5029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9272" y="3355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PC E2E 테스트
(pc_e2e_test.spec.ts)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39개 시나리오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메인/카테고리/상품/검색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498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로그인/장바구니/매장찾기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4791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결과: pc_e2e.json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333756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3337560"/>
            <a:ext cx="2743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3355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MW 랜딩 테스트
(mw_500_check.spec.ts)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대상: m.store.hanssem.com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2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MAX_LINKS: 500개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4498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Pixel 5 디바이스 에뮬레이션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99632" y="4791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결과: mw_500.json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51976" y="3337560"/>
            <a:ext cx="274320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51976" y="3337560"/>
            <a:ext cx="2743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43416" y="33558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맑은 고딕"/>
              </a:rPr>
              <a:t>MW E2E 테스트
(mw_e2e_test.spec.ts)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1704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28개 시나리오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61704" y="4206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모바일 전용 테스트만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61704" y="4498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MW baseURL 자동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61704" y="47914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결과: mw_e2e.json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GitHub Actions 자동화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두 개의 워크플로우로 안정적인 일일 실행 보장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4572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881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daily-trigger.yml  (트리거 전용)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1280160" cy="5943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7335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스케줄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7335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매일 UTC 23:00 (= KST 08:00)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50592"/>
            <a:ext cx="1280160" cy="5943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7802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GitHub API로 playwright.yml
workflow_dispatch 트리거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55264"/>
            <a:ext cx="1280160" cy="5943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82696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82696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GitHub 내장 schedule cron은
간헐적 미실행 이슈 존재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59936"/>
            <a:ext cx="1280160" cy="5943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87368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087368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PAT_TOKEN (Personal Access Token)
사용 → 별도 Secret 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64608"/>
            <a:ext cx="1280160" cy="5943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응답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892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HTTP 204 응답 시 성공
그 외 응답 시 워크플로우 실패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051560"/>
            <a:ext cx="58521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1051560"/>
            <a:ext cx="585216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0881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playwright.yml  (실제 테스트 실행)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27632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1655064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16459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코드 최근 수정일 → results.json
(codeLastModified 필드)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331720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2359152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23500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npm ci + Playwright 브라우저 설치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035808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063240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3054096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npx playwright test
(PC_Chrome + MW_Chrome 순차 실행)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39896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37673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375818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결과 JSON 파일 Git 커밋 + Push
(git pull --rebase 후 push)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443984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4471416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4622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Vercel 자동 배포 (vercel@latest --prod)
최대 3회 재시도 (30초 간격)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5148072"/>
            <a:ext cx="9144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175504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Step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0608" y="51663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아티팩트 업로드
(playwright-report, fail_evidence)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4F9C"/>
                </a:solidFill>
                <a:latin typeface="맑은 고딕"/>
              </a:rPr>
              <a:t>API
호출 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테스트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PC / MW 완전 분리 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3949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394960" cy="4572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881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🖥  PC 테스트  (Desktop Chrome)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55064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대상 도메인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459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store.hanssem.com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59152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랜딩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350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500개 URL 자동 크롤링
HTTP 200 응답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35808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063240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E2E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0540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39개 시나리오
(메인/카테고리/상품/검색/GNB 클릭
/로그인/장바구니/매장찾기)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39896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767328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PC 전용 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75818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푸터 노출, GNB 클릭,
구매버튼, 검색아이콘 클릭,
모든필터, 정렬변경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43984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471416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Pass 기준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46227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HTTP 200 응답
(성능 지연은 실패 기준 제외)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48072"/>
            <a:ext cx="1371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175504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A4F9C"/>
                </a:solidFill>
                <a:latin typeface="맑은 고딕"/>
              </a:rPr>
              <a:t>결과 파일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66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pc_500.json
pc_e2e.json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051560"/>
            <a:ext cx="58064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051560"/>
            <a:ext cx="580644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0881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📱  MW 테스트  (Pixel 5 에뮬레이션)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627632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1655064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대상 도메인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45920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m.store.hanssem.com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331720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2359152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랜딩 테스트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35000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500개 URL 자동 크롤링
HTTP 200 응답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035808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3063240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E2E 테스트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054096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28개 시나리오
(메인/카테고리/상품/검색
/로그인/장바구니/매장찾기)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739896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3767328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MW 전용 항목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58184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PC 전용 테스트 모두 제거
(skip 아닌 삭제)
문의/배송 탭 UI 차이로 제외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443984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9632" y="4471416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URL 규칙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462272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모든 상대경로 자동으로
m.store.hanssem.com에 연결
(playwright.config baseURL)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148072"/>
            <a:ext cx="1371600" cy="50292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9632" y="5175504"/>
            <a:ext cx="13167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695C"/>
                </a:solidFill>
                <a:latin typeface="맑은 고딕"/>
              </a:rPr>
              <a:t>결과 파일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166360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mw_500.json
mw_e2e.json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A6477"/>
                </a:solidFill>
                <a:latin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대시보드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https://hanssem-qa-system.vercel.app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59436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index.html
메인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월별 긴급 배포 건수 막대 그래프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408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(FE=파랑 / BE=주황 / APP=초록)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4개 테스트 결과 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47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통과율 Progress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513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실패 URL 목록 (카드 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장애 현황 요약 (총계/FE/BE/APP)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58383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시스템 상태 배지 (정상/실패감지)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5156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051560"/>
            <a:ext cx="3749039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07899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detail.html
테스트 결과 상세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URL 파라미터 ?id= 로 리포트 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408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전체 케이스 표시 (pass + fail)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443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전체 / 통과만 / 실패만 필터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547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URL / 테스트명 검색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513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소요시간, 실패사유 표시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4개 리포트 모두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358383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pc_500 / pc_e2e / mw_500 / mw_e2e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051560"/>
            <a:ext cx="3749039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051560"/>
            <a:ext cx="3749039" cy="5943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07899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incidents.html
장애 리포트 상세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월별 전체 장애 히스토리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3408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핫픽스 날짜 / 담당자 / 카테고리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9443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FE / BE / APP 구분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4787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Jira 링크 연결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513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수동 관리 (results.json 직접 편집)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총 27건 기록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58383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• (2026-01-06 ~ 현재)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46520"/>
            <a:ext cx="11430000" cy="301752"/>
          </a:xfrm>
          <a:prstGeom prst="rect">
            <a:avLst/>
          </a:prstGeom>
          <a:solidFill>
            <a:srgbClr val="F0F4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64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4F9C"/>
                </a:solidFill>
                <a:latin typeface="맑은 고딕"/>
              </a:rPr>
              <a:t>데이터 흐름:  테스트 실행 → JSON 생성 (pc_500 / pc_e2e / mw_500 / mw_e2e / results) → Git Push → Vercel 재배포 → 대시보드 자동 갱신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장애 리포트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핫픽스 이력 누적 관리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6060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606040" cy="731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7043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  <a:latin typeface="맑은 고딕"/>
              </a:rPr>
              <a:t>27건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총 장애 건수
(2026-01 ~ 현재)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6060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606040" cy="73152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17043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4F9C"/>
                </a:solidFill>
                <a:latin typeface="맑은 고딕"/>
              </a:rPr>
              <a:t>11건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373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FE 프론트엔드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51560"/>
            <a:ext cx="26060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17043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65100"/>
                </a:solidFill>
                <a:latin typeface="맑은 고딕"/>
              </a:rPr>
              <a:t>15건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7373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BE 백엔드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051560"/>
            <a:ext cx="26060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051560"/>
            <a:ext cx="260604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170432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7D32"/>
                </a:solidFill>
                <a:latin typeface="맑은 고딕"/>
              </a:rPr>
              <a:t>1건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7"/>
                </a:solidFill>
                <a:latin typeface="맑은 고딕"/>
              </a:rPr>
              <a:t>APP 모바일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42316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423160"/>
            <a:ext cx="5486400" cy="384048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50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월별 현황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52928"/>
            <a:ext cx="54864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8986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2026년 4월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28986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맑은 고딕"/>
              </a:rPr>
              <a:t>8건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맑은 고딕"/>
              </a:rPr>
              <a:t>FE 3  BE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02736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484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2026년 3월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6484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맑은 고딕"/>
              </a:rPr>
              <a:t>5건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675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맑은 고딕"/>
              </a:rPr>
              <a:t>FE 3  BE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52544"/>
            <a:ext cx="548640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98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2026년 2월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3982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맑은 고딕"/>
              </a:rPr>
              <a:t>7건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4256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맑은 고딕"/>
              </a:rPr>
              <a:t>FE 3  BE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02352"/>
            <a:ext cx="5486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48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2026년 1월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1480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2828"/>
                </a:solidFill>
                <a:latin typeface="맑은 고딕"/>
              </a:rPr>
              <a:t>7건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175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7"/>
                </a:solidFill>
                <a:latin typeface="맑은 고딕"/>
              </a:rPr>
              <a:t>FE 2  BE 4  APP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423160"/>
            <a:ext cx="58064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0" y="2423160"/>
            <a:ext cx="5806440" cy="38404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450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핫픽스 추가 절차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880360"/>
            <a:ext cx="457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2907792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289864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잔디 채널에서 핫픽스 내용 확인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584448"/>
            <a:ext cx="457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3611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3602736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results.json → incidents 섹션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288536"/>
            <a:ext cx="457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0488" y="4315968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306824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해당 월 list에 항목 추가
(no, date, category, assignee, summary, jiraLink)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992624"/>
            <a:ext cx="457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0488" y="502005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01091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month/total count 및
feCount/beCount/appCount 업데이트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696712"/>
            <a:ext cx="45720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0488" y="5724144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571500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A1A2E"/>
                </a:solidFill>
                <a:latin typeface="맑은 고딕"/>
              </a:rPr>
              <a:t>Git 커밋 + Push
→ Vercel 자동 재배포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알림 체계 및 결과 판정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장애 인지 자동화 및 Pass/Fail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881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📢  잔디(Jandi) 알림 체계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37160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27632"/>
            <a:ext cx="1316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맑은 고딕"/>
              </a:rPr>
              <a:t>전송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1848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GitHub Actions CI 환경에서만 전송
(로컬 실행 시 스킵)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137160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96312"/>
            <a:ext cx="1316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맑은 고딕"/>
              </a:rPr>
              <a:t>채널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8716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개발팀 그룹 채널
(Webhook URL 고정)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37160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1"/>
            <a:ext cx="1316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맑은 고딕"/>
              </a:rPr>
              <a:t>전송 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3558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각 테스트 완료 후 즉시
(pc_500 / pc_e2e / mw_500 / mw_e2e 개별)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137160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233672"/>
            <a:ext cx="1316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맑은 고딕"/>
              </a:rPr>
              <a:t>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24527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성공/실패 건수
통과율 (%)
실패 URL 목록 (최대 10개)
대시보드 링크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74920"/>
            <a:ext cx="1371600" cy="658368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102352"/>
            <a:ext cx="1316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695C"/>
                </a:solidFill>
                <a:latin typeface="맑은 고딕"/>
              </a:rPr>
              <a:t>색상 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09320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전체 통과 → 초록 (#00C73C)
1건 이상 실패 → 빨강 (#FF4444)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051560"/>
            <a:ext cx="580644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051560"/>
            <a:ext cx="5806440" cy="438912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088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✅  결과 판정 기준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600200"/>
            <a:ext cx="5532120" cy="1188720"/>
          </a:xfrm>
          <a:prstGeom prst="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맑은 고딕"/>
              </a:rPr>
              <a:t>PASS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9659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HTTP 응답 200
• 타임아웃 없이 페이지 정상 로딩
• E2E: expect() 조건 모두 충족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880360"/>
            <a:ext cx="5532120" cy="118872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맑은 고딕"/>
              </a:rPr>
              <a:t>FAIL 조건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2461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HTTP 오류 (4xx, 5xx)
• 페이지 타임아웃 (25초 초과)
• E2E: expect() 조건 미충족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160520"/>
            <a:ext cx="5532120" cy="731520"/>
          </a:xfrm>
          <a:prstGeom prst="rect">
            <a:avLst/>
          </a:prstGeom>
          <a:solidFill>
            <a:srgbClr val="FFF8E1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206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100"/>
                </a:solidFill>
                <a:latin typeface="맑은 고딕"/>
              </a:rPr>
              <a:t>⚠ 실패 기준 제외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507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• 성능 지연 (로딩 10초 초과) → 제외됨
  실제 접속 이슈 없음 확인 후 기준에서 삭제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983480"/>
            <a:ext cx="5532120" cy="1188720"/>
          </a:xfrm>
          <a:prstGeom prst="rect">
            <a:avLst/>
          </a:prstGeom>
          <a:solidFill>
            <a:srgbClr val="F0F4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029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4F9C"/>
                </a:solidFill>
                <a:latin typeface="맑은 고딕"/>
              </a:rPr>
              <a:t>📸  타임아웃 시 자동 스크린샷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21808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타임아웃 발생 → window.stop() 강제 중단
• fail_evidence/ 폴더에 PNG 자동 저장
• GitHub Actions 아티팩트로 30일 보관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기대 효과 및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맑은 고딕"/>
              </a:rPr>
              <a:t>품질 관리 체계의 지속적 발전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9436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881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✅  기대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21208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367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맑은 고딕"/>
              </a:rPr>
              <a:t>• 운영 리스크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매일 1,000개+ URL 자동 검증으로
배포 후 즉각 이상 감지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5212080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237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9C"/>
                </a:solidFill>
                <a:latin typeface="맑은 고딕"/>
              </a:rPr>
              <a:t>• 인력 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8072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수동 QA 시간 대폭 감소
자동화로 0 운영 비용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74136"/>
            <a:ext cx="521208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107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맑은 고딕"/>
              </a:rPr>
              <a:t>• 장애 대응 속도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941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잔디 알림으로 실시간 인지
대시보드에서 즉시 원인 파악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61104"/>
            <a:ext cx="5212080" cy="7772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9C"/>
                </a:solidFill>
                <a:latin typeface="맑은 고딕"/>
              </a:rPr>
              <a:t>• 품질 이력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8114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장애 리포트 누적으로
월별 트렌드 분석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48072"/>
            <a:ext cx="521208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1846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맑은 고딕"/>
              </a:rPr>
              <a:t>• 확장성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681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새 테스트 추가 시
파일명 규칙(pc_/mw_)만 지키면 자동 적용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051560"/>
            <a:ext cx="580644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051560"/>
            <a:ext cx="5806440" cy="438912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088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🚀  향후 계획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600200"/>
            <a:ext cx="5532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600200"/>
            <a:ext cx="914400" cy="1417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1938528"/>
            <a:ext cx="877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6642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구글 시트 연동 재활성화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197510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(실시간 결과 자동 기록)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2860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테스트 케이스 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5968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(주문/결제 플로우)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136391"/>
            <a:ext cx="5532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136391"/>
            <a:ext cx="914400" cy="14173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474720"/>
            <a:ext cx="877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중기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2004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Slack/잔디 알림 고도화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5112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(담당자별 멘션)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822191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성능 지표 트래킹 추가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133087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(LCP, FCP 측정)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672583"/>
            <a:ext cx="55321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672583"/>
            <a:ext cx="914400" cy="14173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5010912"/>
            <a:ext cx="877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장기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7365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실패 자동 재테스트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50474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시각적 회귀 테스트 도입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35838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테스트 커버리지 리포트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669279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• 앱 테스트 연동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33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0116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63240"/>
            <a:ext cx="4114800" cy="45720"/>
          </a:xfrm>
          <a:prstGeom prst="rect">
            <a:avLst/>
          </a:prstGeom>
          <a:solidFill>
            <a:srgbClr val="4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246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  <a:latin typeface="맑은 고딕"/>
              </a:rPr>
              <a:t>한샘몰 서비스 품질 관리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703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A4D4"/>
                </a:solidFill>
                <a:latin typeface="맑은 고딕"/>
              </a:rPr>
              <a:t>QA Automation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343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맑은 고딕"/>
              </a:rPr>
              <a:t>🔗  대시보드: https://hanssem-qa-system.vercel.app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54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맑은 고딕"/>
              </a:rPr>
              <a:t>📁  GitHub: https://github.com/daewon82/hanssem-qa-system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166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맑은 고딕"/>
              </a:rPr>
              <a:t>⏰  매일 KST 08:00 자동 실행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